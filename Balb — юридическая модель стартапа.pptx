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 занятия — юридические аспекты стартапа. На примере Balb разбираем три задания: форму бизнеса и распределение долей, защиту интеллектуальной собственности и пользовательское соглашение. Все решения построены по российскому праву как учебный кейс; в конце — короткий вариант для запуска за рубежом.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Коротко о продукте и о том, почему юридическая проработка нужна уже сейчас. В Balb сразу сходятся три риска: пять соавторов без письменных договорённостей, пользовательский контент и персональные данные, включая результаты тестов. Каждому риску соответствует одно из трёх заданий.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Сравниваем три формы по критериям, важным для команды из пяти человек. ИП отвечает всем имуществом и не позволяет разделить бизнес на доли. АО нужно для крупных раундов и IPO, на старте это лишние расходы. ООО: ограниченная ответственность, доли в уставе, права на код и бренд закрепляются за компанией. Типичная ошибка студенческих стартапов — оформлять права на продукт на одного из участников.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Распределение долей показано как пример: доли привязаны к роли и вкладу, реальные цифры команда согласует сама. Генеральный директор один, ключевые решения (например, изменение устава) принимаются квалифицированным большинством в 2/3 голосов. Ответственность участников ограничена стоимостью их долей; минимальный уставный капитал — 10 000 рублей. Регистрация возможна онлайн через портал nalog.ru.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Корпоративный договор (ст. 67.2 ГК) дополняет устав: устав публичен и общий, а договор фиксирует личные правила игры между сооснователями. Главное — вестинг и условия выхода: без них ушедший участник сохраняет долю, хотя больше не работает в проекте. Типичная ошибка команд — договариваться устно и вспоминать об этом при первом конфликте.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Авторское право возникает автоматически с момента создания, но регистрация программы и базы данных в Роспатенте даёт доказательство авторства и дату создания (ст. 1262 ГК). Права изготовителя базы данных — ст. 1334 ГК. Алгоритмы лучше держать как секрет производства (ст. 1465 ГК): для этого нужен режим конфиденциальности и соглашения о неразглашении. Название и логотип защищаются только товарным знаком.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Порядок важен: сначала договоры о правах, потому что без них регистрировать нечего: исключительное право может оказаться у автора кода, а не у общества. При гражданско-правовом договоре права нужно передавать письменно (ст. 1234 ГК); у штатных сотрудников служебные произведения принадлежат работодателю (ст. 1295 ГК). Отдельный пункт — лицензии: научные шкалы тестов и сторонние библиотеки нельзя использовать без разрешения правообладателей.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Из трёх предложенных документов выбрано пользовательское соглашение: оно сразу закрывает самые острые риски Balb — пользовательский контент, тесты и персональные данные. Соглашение оформляется как публичная оферта (ст. 437 ГК): достаточно принятия условий при регистрации. Десять разделов покрывают весь жизненный цикл пользователя от регистрации до удаления аккаунта.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положения, которые отличают соглашение Balb от шаблонного. Лицензия на контент нужна, потому что карточки и фото создают пользователи. Возрастные ограничения связаны с режимом Wild. Оговорка о тестах защищает от ожиданий «психологической диагностики». Результаты тестов о взглядах и состоянии могут относиться к специальным категориям персональных данных (ст. 10 152-ФЗ), поэтому для них нужно отдельное письменное согласие; первичное хранение данных граждан РФ — на серверах в России (ст. 18 152-ФЗ).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Короткий вариант на случай запуска не в России. Три типовые юрисдикции для ИТ-стартапов. Делается как учебный пример, а не как рекомендация: перед реальной регистрацией нужна консультация юриста нужной страны и проверка актуальных условий и налогов. Логика защиты интеллектуальной собственности и пользовательского соглашения остаётся той же, меняются форма компании, правила о данных и банковское обслуживание.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Предположение для кейса: на старте используем адрес жилого помещения учредителя с согласием собственника (гарантийное письмо плюс выписка о праве собственности). Это законно, но при росте лучше перейти на коворкинг или офис. Адреса массовой регистрации рискованны: по заявлению налоговой сведения об адресе могут признать недостоверными, а при проверке это ведёт к осложнениям. Подача онлайн через портал nalog.ru с электронной подписью избавляет от госпошлины.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Устав можно составить на основе типового устава ФНС, но он не содержит особых правил (вестинг, выход, порядок входа инвестора). Поэтому берём индивидуальный устав и дополняем его корпоративным договором. Дополнительные ОКВЭД: 63.11 (обработка данных и размещение информации) и 58.29 (прочее программное обеспечение). Уставный капитал 10 000 рублей делится между участниками пропорционально долям: 3 000, 1 800, 1 800, 1 700 и 1 700 рублей. Налоговый режим — упрощённая система; возможна аккредитация как IT-компании с льготами, условия и ставки проверяются на момент подачи.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Данные взяты из открытых источников: страница lava.top/about-us (оператор Lavalane LTD, Кипр; комиссия 8% с продаж, без абонентской платы; Visa, Mastercard, PayPal, Apple Pay; подписки с автосписанием с 2022 года) и обзоры на vc.ru и hellogc.blog (первая выплата после трёх продаж и проверки до 7 рабочих дней; продавцом может быть физлицо; чеков по 54-ФЗ нет; лимиты выводов зависят от способа). В отзывах пользователей есть жалобы на заморозку балансов, это неподтверждённые сообщения. Выплата юридическому лицу в источниках не описана, её нужно уточнить в поддержке. Интеграция: lava.top присылает вебхуки об оплате, подписке и отмене; в истории доставки есть статусы Delivered, Failed, Timeout и Blocked (после нескольких сбоев подряд доставка на адрес приостанавливается и потом возобновляется сама). Поэтому статус подписки в Balb нужно периодически сверять, а не полагаться только на вебхуки. Для iOS: покупки цифровых функций внутри приложения по правилам App Store обычно идут через встроенные покупки, внешняя оплата допускается не во всех регионах.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07692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B1F3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28750"/>
            <a:ext cx="10566400" cy="421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1F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07692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B1F3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28750"/>
            <a:ext cx="10566400" cy="421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1F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1F3B"/>
              </a:gs>
              <a:gs pos="100000">
                <a:srgbClr val="262B52"/>
              </a:gs>
            </a:gsLst>
            <a:lin ang="2700000" scaled="0"/>
          </a:gradFill>
          <a:ln/>
        </p:spPr>
      </p:sp>
      <p:pic>
        <p:nvPicPr>
          <p:cNvPr id="3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3000" y="762000"/>
            <a:ext cx="3556000" cy="3556000"/>
          </a:xfrm>
          <a:prstGeom prst="rect">
            <a:avLst/>
          </a:prstGeom>
        </p:spPr>
      </p:pic>
      <p:pic>
        <p:nvPicPr>
          <p:cNvPr id="4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017000" y="2794000"/>
            <a:ext cx="1778000" cy="177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2800" y="81280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9B8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ПРАКТИЧЕСКОЕ ЗАНЯТИЕ №15 · СТАРТАП В ИТ</a:t>
            </a:r>
            <a:endParaRPr lang="en-US" sz="1200" dirty="0"/>
          </a:p>
        </p:txBody>
      </p:sp>
      <p:sp>
        <p:nvSpPr>
          <p:cNvPr id="6" name="Text 2"/>
          <p:cNvSpPr/>
          <p:nvPr>
            <p:ph type="title"/>
          </p:nvPr>
        </p:nvSpPr>
        <p:spPr>
          <a:xfrm>
            <a:off x="812800" y="2167930"/>
            <a:ext cx="6540500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7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Balb: правовая модель стартапа</a:t>
            </a:r>
            <a:endParaRPr lang="en-US" sz="4800" dirty="0"/>
          </a:p>
        </p:txBody>
      </p:sp>
      <p:sp>
        <p:nvSpPr>
          <p:cNvPr id="7" name="Text 3"/>
          <p:cNvSpPr/>
          <p:nvPr/>
        </p:nvSpPr>
        <p:spPr>
          <a:xfrm>
            <a:off x="812800" y="3712170"/>
            <a:ext cx="6540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B9BC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Форма бизнеса, защита интеллектуальной собственности и пользовательское соглашение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812800" y="551438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Команда Balb: Гульницкий В. И., Жирнов Н. В., Климентьев В. С., Лобачев Г. А., Ткаченко А. В.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12800" y="58318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BC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Преподаватель: Адышкин С. С. · Институт перспективных технологий и индустриального программирования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D4A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 ПРОЕКТЕ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769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1F3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Balb и его юридические риски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81125"/>
            <a:ext cx="3380284" cy="1987550"/>
          </a:xfrm>
          <a:prstGeom prst="roundRect">
            <a:avLst>
              <a:gd name="adj" fmla="val 6230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038300"/>
            <a:ext cx="295191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F3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Что делаем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3150" y="2444700"/>
            <a:ext cx="295191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Платформа для совместных активностей: игры, квизы, тесты и подбор фильма в iOS и вебе.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5809" y="1781125"/>
            <a:ext cx="3380333" cy="1987550"/>
          </a:xfrm>
          <a:prstGeom prst="roundRect">
            <a:avLst>
              <a:gd name="adj" fmla="val 6230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2984" y="2038300"/>
            <a:ext cx="29519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F3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С чем работаем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62984" y="2444700"/>
            <a:ext cx="295196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Аккаунты, фото и карточки пользователей, результаты тестов, реклама и подписка.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95692" y="1781125"/>
            <a:ext cx="3380333" cy="1987550"/>
          </a:xfrm>
          <a:prstGeom prst="roundRect">
            <a:avLst>
              <a:gd name="adj" fmla="val 6230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2867" y="2038300"/>
            <a:ext cx="29519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F3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Кто создаёт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52867" y="2444700"/>
            <a:ext cx="295196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Пять человек: код, дизайн, тексты тестов и алгоритмы пишут разные люди.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402585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Три вопроса нужно решить до запуска: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800" y="4394150"/>
            <a:ext cx="2052786" cy="444500"/>
          </a:xfrm>
          <a:prstGeom prst="roundRect">
            <a:avLst>
              <a:gd name="adj" fmla="val 50000"/>
            </a:avLst>
          </a:prstGeom>
          <a:solidFill>
            <a:srgbClr val="ECE6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B1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Форма бизнеса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17986" y="4394150"/>
            <a:ext cx="2263527" cy="444500"/>
          </a:xfrm>
          <a:prstGeom prst="roundRect">
            <a:avLst>
              <a:gd name="adj" fmla="val 50000"/>
            </a:avLst>
          </a:prstGeom>
          <a:solidFill>
            <a:srgbClr val="ECE6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B1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Права на продукт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33913" y="4394150"/>
            <a:ext cx="3249166" cy="444500"/>
          </a:xfrm>
          <a:prstGeom prst="roundRect">
            <a:avLst>
              <a:gd name="adj" fmla="val 50000"/>
            </a:avLst>
          </a:prstGeom>
          <a:solidFill>
            <a:srgbClr val="ECE6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B1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Правила для пользователей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6F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Balb · Практическое занятие №15 · 2 / 10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D4A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ЗАДАНИЕ 1 · ПРАВОВАЯ СТРУКТУРА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769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1F3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Форма бизнеса: ИП, ООО или АО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90650"/>
          <a:ext cx="10553700" cy="2476500"/>
        </p:xfrm>
        <a:graphic>
          <a:graphicData uri="http://schemas.openxmlformats.org/drawingml/2006/table">
            <a:tbl>
              <a:tblPr/>
              <a:tblGrid>
                <a:gridCol w="2532888"/>
                <a:gridCol w="2638425"/>
                <a:gridCol w="2743962"/>
                <a:gridCol w="2638425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Критерий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ИП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6D4AC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ООО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АО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E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Ответственность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Всем имуществом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В пределах доли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В пределах акций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Сооснователи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Владелец один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Доли в уставе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Акции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Инвестиции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Нет долевого участия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Продажа доли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Выпуск акций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Права на продукт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У физлица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У компании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У компании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Сложность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Минимум отчётности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Устав, учёт, счёт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Избыточна на старте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521150"/>
            <a:ext cx="10566400" cy="939800"/>
          </a:xfrm>
          <a:prstGeom prst="roundRect">
            <a:avLst>
              <a:gd name="adj" fmla="val 13514"/>
            </a:avLst>
          </a:prstGeom>
          <a:solidFill>
            <a:srgbClr val="ECE6F8"/>
          </a:solidFill>
          <a:ln/>
        </p:spPr>
        <p:txBody>
          <a:bodyPr wrap="square" lIns="216803" tIns="166003" rIns="0" bIns="140603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B1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Вывод:</a:t>
            </a:r>
            <a:r>
              <a:rPr lang="en-US" sz="1500" dirty="0">
                <a:solidFill>
                  <a:srgbClr val="2B1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на старте подходит ООО: доли между пятью сооснователями, права на продукт у компании, понятная структура для инвестора. АО избыточно, ИП не делится на доли.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6F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Balb · Практическое занятие №15 · 3 / 10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D4A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ЗАДАНИЕ 1 · ПРАВОВАЯ СТРУКТУРА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769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1F3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ООО Balb: доли и управление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90650"/>
          <a:ext cx="6337300" cy="2476500"/>
        </p:xfrm>
        <a:graphic>
          <a:graphicData uri="http://schemas.openxmlformats.org/drawingml/2006/table">
            <a:tbl>
              <a:tblPr/>
              <a:tblGrid>
                <a:gridCol w="2281428"/>
                <a:gridCol w="2788412"/>
                <a:gridCol w="1267460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Участник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A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A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A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Роль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1A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A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A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AD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Доля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1A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A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A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AD2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Климентьев В. С.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A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Продукт, гендиректор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A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30%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A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Лобачев Г. А.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Серверная часть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18%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Жирнов Н. В.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iOS-приложение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18%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Ткаченко А. В.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Веб-платформа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17%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Гульницкий В. И.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Оценка тестов (LLM)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17%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5975" y="4422725"/>
            <a:ext cx="3092450" cy="1301750"/>
          </a:xfrm>
          <a:prstGeom prst="roundRect">
            <a:avLst>
              <a:gd name="adj" fmla="val 9512"/>
            </a:avLst>
          </a:prstGeom>
          <a:solidFill>
            <a:srgbClr val="FDFCF9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22350" y="4629100"/>
            <a:ext cx="276009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6D4AC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10 000 ₽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22350" y="4984700"/>
            <a:ext cx="276009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минимальный уставный капитал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067175" y="4422725"/>
            <a:ext cx="3092450" cy="1301750"/>
          </a:xfrm>
          <a:prstGeom prst="roundRect">
            <a:avLst>
              <a:gd name="adj" fmla="val 9512"/>
            </a:avLst>
          </a:prstGeom>
          <a:solidFill>
            <a:srgbClr val="FDFCF9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73550" y="4629100"/>
            <a:ext cx="276009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6D4AC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В пределах доли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273550" y="4984700"/>
            <a:ext cx="276009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ответственность участников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470775" y="1781125"/>
            <a:ext cx="3905250" cy="1720850"/>
          </a:xfrm>
          <a:prstGeom prst="roundRect">
            <a:avLst>
              <a:gd name="adj" fmla="val 7196"/>
            </a:avLst>
          </a:prstGeom>
          <a:solidFill>
            <a:srgbClr val="FDFCF9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27950" y="2038300"/>
            <a:ext cx="34926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F3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Управление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727950" y="2444700"/>
            <a:ext cx="3492627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Генеральный директор — Климентьев В. С. Изменения устава — 2/3 голосов участников.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470775" y="3711525"/>
            <a:ext cx="3905250" cy="1720850"/>
          </a:xfrm>
          <a:prstGeom prst="roundRect">
            <a:avLst>
              <a:gd name="adj" fmla="val 7196"/>
            </a:avLst>
          </a:prstGeom>
          <a:solidFill>
            <a:srgbClr val="FDFCF9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27950" y="3968700"/>
            <a:ext cx="34926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F3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Устав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727950" y="4375100"/>
            <a:ext cx="3492627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Продажа долей, выход участника и вход инвестора — по правилам устава.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6F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Balb · Распределение долей — пример для учебного кейса · 4 / 10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D4A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ЗАДАНИЕ 1 · ПРАВОВАЯ СТРУКТУРА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769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1F3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Корпоративный договор сооснователей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81125"/>
            <a:ext cx="3380284" cy="1720850"/>
          </a:xfrm>
          <a:prstGeom prst="roundRect">
            <a:avLst>
              <a:gd name="adj" fmla="val 7196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038300"/>
            <a:ext cx="295191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6D4AC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Вестинг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3150" y="2444700"/>
            <a:ext cx="295191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Доля закрепляется постепенно: 4 года, первый год испытательный.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5809" y="1781125"/>
            <a:ext cx="3380333" cy="1720850"/>
          </a:xfrm>
          <a:prstGeom prst="roundRect">
            <a:avLst>
              <a:gd name="adj" fmla="val 7196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2984" y="2038300"/>
            <a:ext cx="29519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6D4AC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Выход участника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62984" y="2444700"/>
            <a:ext cx="295196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Доля уходящего выкупается по правилам, записанным заранее.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95692" y="1781125"/>
            <a:ext cx="3380333" cy="1720850"/>
          </a:xfrm>
          <a:prstGeom prst="roundRect">
            <a:avLst>
              <a:gd name="adj" fmla="val 7196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2867" y="2038300"/>
            <a:ext cx="29519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6D4AC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Принятие решений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52867" y="2444700"/>
            <a:ext cx="295196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Ключевые решения принимаются большинством, а не одним человеком.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5975" y="3711525"/>
            <a:ext cx="3380284" cy="1720850"/>
          </a:xfrm>
          <a:prstGeom prst="roundRect">
            <a:avLst>
              <a:gd name="adj" fmla="val 7196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3150" y="3968700"/>
            <a:ext cx="295191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6D4AC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Продажа долей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73150" y="4375100"/>
            <a:ext cx="295191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Сначала долю предлагают действующим сооснователям.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405809" y="3711525"/>
            <a:ext cx="3380333" cy="1720850"/>
          </a:xfrm>
          <a:prstGeom prst="roundRect">
            <a:avLst>
              <a:gd name="adj" fmla="val 7196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2984" y="3968700"/>
            <a:ext cx="29519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6D4AC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Права на продукт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62984" y="4375100"/>
            <a:ext cx="295196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Всё, что участник создаёт для Balb, принадлежит обществу.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995692" y="3711525"/>
            <a:ext cx="3380333" cy="1720850"/>
          </a:xfrm>
          <a:prstGeom prst="roundRect">
            <a:avLst>
              <a:gd name="adj" fmla="val 7196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52867" y="3968700"/>
            <a:ext cx="29519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6D4AC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Конкуренция, тайна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52867" y="4375100"/>
            <a:ext cx="295196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запускать конкурирующий проект и не раскрывать данные.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6F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Balb · Практическое занятие №15 · 5 / 10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D4A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ЗАДАНИЕ 2 · ИНТЕЛЛЕКТУАЛЬНАЯ СОБСТВЕННОСТЬ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769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1F3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Что в Balb защищается и как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90650"/>
          <a:ext cx="10553700" cy="3009900"/>
        </p:xfrm>
        <a:graphic>
          <a:graphicData uri="http://schemas.openxmlformats.org/drawingml/2006/table">
            <a:tbl>
              <a:tblPr/>
              <a:tblGrid>
                <a:gridCol w="3799332"/>
                <a:gridCol w="3588258"/>
                <a:gridCol w="3166110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Актив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A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A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A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Вид защиты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1A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A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A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A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Как закрепляем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1A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A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A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AD2"/>
                    </a:solidFill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Код: iOS, сервер, веб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A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Авторское право, программа для ЭВМ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A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Регистрация в Роспатенте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AE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Базы данных: карточки, тесты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Права изготовителя базы данных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Регистрация и договоры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Дизайн и тексты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Авторское право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Договоры с авторами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Название и логотип Balb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Товарный знак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Заявка в Роспатент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Алгоритмы ранжирования и оценки тестов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Секрет производства (ноу-хау)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Режим тайны и NDA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6F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Balb · Практическое занятие №15 · 6 / 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D4A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ЗАДАНИЕ 2 · ИНТЕЛЛЕКТУАЛЬНАЯ СОБСТВЕННОСТЬ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769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1F3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План защиты интеллектуальной собственности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81125"/>
            <a:ext cx="10560050" cy="844550"/>
          </a:xfrm>
          <a:prstGeom prst="roundRect">
            <a:avLst>
              <a:gd name="adj" fmla="val 14662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000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arcTo hR="203200" wR="203200" stAng="16200000" swAng="5400000"/>
                <a:lnTo>
                  <a:pt x="406400" y="203200"/>
                </a:lnTo>
                <a:arcTo hR="203200" wR="203200" stAng="0" swAng="5400000"/>
                <a:lnTo>
                  <a:pt x="203200" y="406400"/>
                </a:lnTo>
                <a:arcTo hR="203200" wR="203200" stAng="5400000" swAng="5400000"/>
                <a:lnTo>
                  <a:pt x="0" y="203200"/>
                </a:lnTo>
                <a:arcTo hR="203200" wR="203200" stAng="10800000" swAng="5400000"/>
                <a:close/>
              </a:path>
            </a:pathLst>
          </a:custGeom>
          <a:solidFill>
            <a:srgbClr val="6D4AC2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195"/>
              </a:lnSpc>
              <a:buNone/>
            </a:pPr>
            <a:r>
              <a:rPr lang="en-US" sz="1500" b="1" dirty="0">
                <a:solidFill>
                  <a:srgbClr val="FDFC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82750" y="2051000"/>
            <a:ext cx="313944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F3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Договоры о правах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933950" y="1936700"/>
            <a:ext cx="637044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Участники передают обществу исключительные права на код, дизайн и тексты (ст. 1234 ГК).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15975" y="2733625"/>
            <a:ext cx="10560050" cy="920750"/>
          </a:xfrm>
          <a:prstGeom prst="roundRect">
            <a:avLst>
              <a:gd name="adj" fmla="val 13448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3150" y="2990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arcTo hR="203200" wR="203200" stAng="16200000" swAng="5400000"/>
                <a:lnTo>
                  <a:pt x="406400" y="203200"/>
                </a:lnTo>
                <a:arcTo hR="203200" wR="203200" stAng="0" swAng="5400000"/>
                <a:lnTo>
                  <a:pt x="203200" y="406400"/>
                </a:lnTo>
                <a:arcTo hR="203200" wR="203200" stAng="5400000" swAng="5400000"/>
                <a:lnTo>
                  <a:pt x="0" y="203200"/>
                </a:lnTo>
                <a:arcTo hR="203200" wR="203200" stAng="10800000" swAng="5400000"/>
                <a:close/>
              </a:path>
            </a:pathLst>
          </a:custGeom>
          <a:solidFill>
            <a:srgbClr val="6D4AC2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195"/>
              </a:lnSpc>
              <a:buNone/>
            </a:pPr>
            <a:r>
              <a:rPr lang="en-US" sz="1500" b="1" dirty="0">
                <a:solidFill>
                  <a:srgbClr val="FDFC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82750" y="2889200"/>
            <a:ext cx="313944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F3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Регистрация в Роспатенте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33950" y="2927300"/>
            <a:ext cx="637044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Программы для ЭВМ и базы данных. Патент не подаём: программы не патентуются (ст. 1350 ГК).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5975" y="3762325"/>
            <a:ext cx="10560050" cy="844550"/>
          </a:xfrm>
          <a:prstGeom prst="roundRect">
            <a:avLst>
              <a:gd name="adj" fmla="val 14662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3150" y="3981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arcTo hR="203200" wR="203200" stAng="16200000" swAng="5400000"/>
                <a:lnTo>
                  <a:pt x="406400" y="203200"/>
                </a:lnTo>
                <a:arcTo hR="203200" wR="203200" stAng="0" swAng="5400000"/>
                <a:lnTo>
                  <a:pt x="203200" y="406400"/>
                </a:lnTo>
                <a:arcTo hR="203200" wR="203200" stAng="5400000" swAng="5400000"/>
                <a:lnTo>
                  <a:pt x="0" y="203200"/>
                </a:lnTo>
                <a:arcTo hR="203200" wR="203200" stAng="10800000" swAng="5400000"/>
                <a:close/>
              </a:path>
            </a:pathLst>
          </a:custGeom>
          <a:solidFill>
            <a:srgbClr val="6D4AC2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195"/>
              </a:lnSpc>
              <a:buNone/>
            </a:pPr>
            <a:r>
              <a:rPr lang="en-US" sz="1500" b="1" dirty="0">
                <a:solidFill>
                  <a:srgbClr val="FDFC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82750" y="4032200"/>
            <a:ext cx="313944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F3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Товарный знак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933950" y="3917900"/>
            <a:ext cx="637044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Название и логотип Balb, классы 9, 41 и 42 МКТУ. Сначала проверка названия на чужие права.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5975" y="4714825"/>
            <a:ext cx="10560050" cy="920750"/>
          </a:xfrm>
          <a:prstGeom prst="roundRect">
            <a:avLst>
              <a:gd name="adj" fmla="val 13448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3150" y="497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arcTo hR="203200" wR="203200" stAng="16200000" swAng="5400000"/>
                <a:lnTo>
                  <a:pt x="406400" y="203200"/>
                </a:lnTo>
                <a:arcTo hR="203200" wR="203200" stAng="0" swAng="5400000"/>
                <a:lnTo>
                  <a:pt x="203200" y="406400"/>
                </a:lnTo>
                <a:arcTo hR="203200" wR="203200" stAng="5400000" swAng="5400000"/>
                <a:lnTo>
                  <a:pt x="0" y="203200"/>
                </a:lnTo>
                <a:arcTo hR="203200" wR="203200" stAng="10800000" swAng="5400000"/>
                <a:close/>
              </a:path>
            </a:pathLst>
          </a:custGeom>
          <a:solidFill>
            <a:srgbClr val="6D4AC2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195"/>
              </a:lnSpc>
              <a:buNone/>
            </a:pPr>
            <a:r>
              <a:rPr lang="en-US" sz="1500" b="1" dirty="0">
                <a:solidFill>
                  <a:srgbClr val="FDFC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82750" y="4870400"/>
            <a:ext cx="313944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F3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Режим тайны и лицензии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933950" y="4908500"/>
            <a:ext cx="637044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NDA, правила обращения с алгоритмами, лицензии на чужие компоненты и психометрические шкалы.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6F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Balb · Практическое занятие №15 · 7 / 10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D4A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ЗАДАНИЕ 3 · ТИПОВОЙ ДОГОВОР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769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1F3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Пользовательское соглашение: структура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81125"/>
            <a:ext cx="5175250" cy="539750"/>
          </a:xfrm>
          <a:prstGeom prst="roundRect">
            <a:avLst>
              <a:gd name="adj" fmla="val 18235"/>
            </a:avLst>
          </a:prstGeom>
          <a:solidFill>
            <a:srgbClr val="FDFCF9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1550" y="1873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6D4AC2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5"/>
              </a:lnSpc>
              <a:buNone/>
            </a:pPr>
            <a:r>
              <a:rPr lang="en-US" sz="1500" b="1" dirty="0">
                <a:solidFill>
                  <a:srgbClr val="FDFC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79550" y="1898600"/>
            <a:ext cx="314706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F3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Предмет и термины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15975" y="2428825"/>
            <a:ext cx="5175250" cy="539750"/>
          </a:xfrm>
          <a:prstGeom prst="roundRect">
            <a:avLst>
              <a:gd name="adj" fmla="val 18235"/>
            </a:avLst>
          </a:prstGeom>
          <a:solidFill>
            <a:srgbClr val="FDFCF9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1550" y="25209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6D4AC2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5"/>
              </a:lnSpc>
              <a:buNone/>
            </a:pPr>
            <a:r>
              <a:rPr lang="en-US" sz="1500" b="1" dirty="0">
                <a:solidFill>
                  <a:srgbClr val="FDFC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79550" y="2546300"/>
            <a:ext cx="35433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F3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Регистрация и возраст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15975" y="3076525"/>
            <a:ext cx="5175250" cy="539750"/>
          </a:xfrm>
          <a:prstGeom prst="roundRect">
            <a:avLst>
              <a:gd name="adj" fmla="val 18235"/>
            </a:avLst>
          </a:prstGeom>
          <a:solidFill>
            <a:srgbClr val="FDFCF9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1550" y="3168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6D4AC2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5"/>
              </a:lnSpc>
              <a:buNone/>
            </a:pPr>
            <a:r>
              <a:rPr lang="en-US" sz="1500" b="1" dirty="0">
                <a:solidFill>
                  <a:srgbClr val="FDFC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79550" y="3194000"/>
            <a:ext cx="3065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F3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Правила поведения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15975" y="3724225"/>
            <a:ext cx="5175250" cy="539750"/>
          </a:xfrm>
          <a:prstGeom prst="roundRect">
            <a:avLst>
              <a:gd name="adj" fmla="val 18235"/>
            </a:avLst>
          </a:prstGeom>
          <a:solidFill>
            <a:srgbClr val="FDFCF9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1550" y="38163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6D4AC2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5"/>
              </a:lnSpc>
              <a:buNone/>
            </a:pPr>
            <a:r>
              <a:rPr lang="en-US" sz="1500" b="1" dirty="0">
                <a:solidFill>
                  <a:srgbClr val="FDFC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79550" y="3841700"/>
            <a:ext cx="424005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F3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Пользовательский контент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15975" y="4371925"/>
            <a:ext cx="5175250" cy="539750"/>
          </a:xfrm>
          <a:prstGeom prst="roundRect">
            <a:avLst>
              <a:gd name="adj" fmla="val 18235"/>
            </a:avLst>
          </a:prstGeom>
          <a:solidFill>
            <a:srgbClr val="FDFCF9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1550" y="446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6D4AC2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5"/>
              </a:lnSpc>
              <a:buNone/>
            </a:pPr>
            <a:r>
              <a:rPr lang="en-US" sz="1500" b="1" dirty="0">
                <a:solidFill>
                  <a:srgbClr val="FDFC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79550" y="4489400"/>
            <a:ext cx="397787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F3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Модерация и блокировки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200775" y="1781125"/>
            <a:ext cx="5175250" cy="539750"/>
          </a:xfrm>
          <a:prstGeom prst="roundRect">
            <a:avLst>
              <a:gd name="adj" fmla="val 18235"/>
            </a:avLst>
          </a:prstGeom>
          <a:solidFill>
            <a:srgbClr val="FDFCF9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6350" y="1873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6D4AC2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5"/>
              </a:lnSpc>
              <a:buNone/>
            </a:pPr>
            <a:r>
              <a:rPr lang="en-US" sz="1500" b="1" dirty="0">
                <a:solidFill>
                  <a:srgbClr val="FDFC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64350" y="1898600"/>
            <a:ext cx="3523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F3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Тесты и их результаты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200775" y="2428825"/>
            <a:ext cx="5175250" cy="539750"/>
          </a:xfrm>
          <a:prstGeom prst="roundRect">
            <a:avLst>
              <a:gd name="adj" fmla="val 18235"/>
            </a:avLst>
          </a:prstGeom>
          <a:solidFill>
            <a:srgbClr val="FDFCF9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6350" y="25209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6D4AC2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5"/>
              </a:lnSpc>
              <a:buNone/>
            </a:pPr>
            <a:r>
              <a:rPr lang="en-US" sz="1500" b="1" dirty="0">
                <a:solidFill>
                  <a:srgbClr val="FDFC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64350" y="2546300"/>
            <a:ext cx="318349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F3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Подписка и реклама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200775" y="3076525"/>
            <a:ext cx="5175250" cy="539750"/>
          </a:xfrm>
          <a:prstGeom prst="roundRect">
            <a:avLst>
              <a:gd name="adj" fmla="val 18235"/>
            </a:avLst>
          </a:prstGeom>
          <a:solidFill>
            <a:srgbClr val="FDFCF9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6350" y="3168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6D4AC2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5"/>
              </a:lnSpc>
              <a:buNone/>
            </a:pPr>
            <a:r>
              <a:rPr lang="en-US" sz="1500" b="1" dirty="0">
                <a:solidFill>
                  <a:srgbClr val="FDFC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64350" y="3194000"/>
            <a:ext cx="354889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F3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Персональные данные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200775" y="3724225"/>
            <a:ext cx="5175250" cy="539750"/>
          </a:xfrm>
          <a:prstGeom prst="roundRect">
            <a:avLst>
              <a:gd name="adj" fmla="val 18235"/>
            </a:avLst>
          </a:prstGeom>
          <a:solidFill>
            <a:srgbClr val="FDFCF9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6350" y="38163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6D4AC2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5"/>
              </a:lnSpc>
              <a:buNone/>
            </a:pPr>
            <a:r>
              <a:rPr lang="en-US" sz="1500" b="1" dirty="0">
                <a:solidFill>
                  <a:srgbClr val="FDFC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64350" y="3841700"/>
            <a:ext cx="384774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F3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Ответственность сторон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200775" y="4371925"/>
            <a:ext cx="5175250" cy="539750"/>
          </a:xfrm>
          <a:prstGeom prst="roundRect">
            <a:avLst>
              <a:gd name="adj" fmla="val 18235"/>
            </a:avLst>
          </a:prstGeom>
          <a:solidFill>
            <a:srgbClr val="FDFCF9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6350" y="446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hR="177800" wR="177800" stAng="16200000" swAng="5400000"/>
                <a:lnTo>
                  <a:pt x="355600" y="177800"/>
                </a:lnTo>
                <a:arcTo hR="177800" wR="177800" stAng="0" swAng="5400000"/>
                <a:lnTo>
                  <a:pt x="177800" y="355600"/>
                </a:lnTo>
                <a:arcTo hR="177800" wR="177800" stAng="5400000" swAng="5400000"/>
                <a:lnTo>
                  <a:pt x="0" y="177800"/>
                </a:lnTo>
                <a:arcTo hR="177800" wR="177800" stAng="10800000" swAng="5400000"/>
                <a:close/>
              </a:path>
            </a:pathLst>
          </a:custGeom>
          <a:solidFill>
            <a:srgbClr val="6D4AC2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5"/>
              </a:lnSpc>
              <a:buNone/>
            </a:pPr>
            <a:r>
              <a:rPr lang="en-US" sz="1500" b="1" dirty="0">
                <a:solidFill>
                  <a:srgbClr val="FDFCF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64350" y="4489400"/>
            <a:ext cx="309401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F3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Изменения и споры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12800" y="516885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Форма договора — публичная оферта: пользователь принимает условия при регистрации.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6F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Balb · Практическое занятие №15 · 8 / 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D4A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ЗАДАНИЕ 3 · ТИПОВОЙ ДОГОВОР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769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1F3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Ключевые положения соглашения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81125"/>
            <a:ext cx="5175250" cy="1720850"/>
          </a:xfrm>
          <a:prstGeom prst="roundRect">
            <a:avLst>
              <a:gd name="adj" fmla="val 7196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038300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6D4AC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Пользовательский контент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3150" y="2444700"/>
            <a:ext cx="4800727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Пользователь даёт сервису неисключительную лицензию на свои карточки и фото; права остаются за ним.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00775" y="1781125"/>
            <a:ext cx="5175250" cy="1720850"/>
          </a:xfrm>
          <a:prstGeom prst="roundRect">
            <a:avLst>
              <a:gd name="adj" fmla="val 7196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7950" y="2038300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6D4AC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Возраст и контент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57950" y="2444700"/>
            <a:ext cx="4800727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Режим Wild только для 18+, возрастная маркировка по 436-ФЗ, жалобы и удаление нарушающих карточек.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5975" y="3711525"/>
            <a:ext cx="5175250" cy="1720850"/>
          </a:xfrm>
          <a:prstGeom prst="roundRect">
            <a:avLst>
              <a:gd name="adj" fmla="val 7196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3150" y="3968700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6D4AC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Тесты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73150" y="4375100"/>
            <a:ext cx="480072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Результаты носят познавательный характер: это не диагноз и не замена консультации специалиста.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00775" y="3711525"/>
            <a:ext cx="5175250" cy="1720850"/>
          </a:xfrm>
          <a:prstGeom prst="roundRect">
            <a:avLst>
              <a:gd name="adj" fmla="val 7196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7950" y="3968700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6D4AC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Персональные данные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57950" y="4375100"/>
            <a:ext cx="4800727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Отдельное согласие на результаты тестов, политика обработки, хранение данных россиян на серверах в РФ (152-ФЗ).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6F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Balb · Практическое занятие №15 · 9 / 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9B8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ДОПОЛНЕНИЕ · УЧЕБНЫЙ КЕЙС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769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7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Если запускать за пределами РФ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81125"/>
            <a:ext cx="3380284" cy="2622550"/>
          </a:xfrm>
          <a:prstGeom prst="roundRect">
            <a:avLst>
              <a:gd name="adj" fmla="val 4722"/>
            </a:avLst>
          </a:prstGeom>
          <a:solidFill>
            <a:srgbClr val="262B52"/>
          </a:solidFill>
          <a:ln w="6350">
            <a:solidFill>
              <a:srgbClr val="3A40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038300"/>
            <a:ext cx="295191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7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Delaware C-Corp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3150" y="2444700"/>
            <a:ext cx="295191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9BC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Стандарт для венчурных инвесторов: привычные документы и SAFE.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3150" y="3346400"/>
            <a:ext cx="295191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9BC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Нужны американский юрист и банковский счёт.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05809" y="1781125"/>
            <a:ext cx="3380333" cy="2622550"/>
          </a:xfrm>
          <a:prstGeom prst="roundRect">
            <a:avLst>
              <a:gd name="adj" fmla="val 4722"/>
            </a:avLst>
          </a:prstGeom>
          <a:solidFill>
            <a:srgbClr val="262B52"/>
          </a:solidFill>
          <a:ln w="6350">
            <a:solidFill>
              <a:srgbClr val="3A40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2984" y="2038300"/>
            <a:ext cx="29519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7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UK Ltd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62984" y="2444700"/>
            <a:ext cx="295196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9BC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Быстрая онлайн-регистрация, налоговые льготы инвесторам (EIS, SEIS).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2984" y="3346400"/>
            <a:ext cx="295196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9BC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Данные пользователей — по UK GDPR.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95692" y="1781125"/>
            <a:ext cx="3380333" cy="2622550"/>
          </a:xfrm>
          <a:prstGeom prst="roundRect">
            <a:avLst>
              <a:gd name="adj" fmla="val 4722"/>
            </a:avLst>
          </a:prstGeom>
          <a:solidFill>
            <a:srgbClr val="262B52"/>
          </a:solidFill>
          <a:ln w="6350">
            <a:solidFill>
              <a:srgbClr val="3A40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2867" y="2038300"/>
            <a:ext cx="29519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7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Эстония, OÜ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52867" y="2444700"/>
            <a:ext cx="2951963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9BC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Онлайн-регистрация, e-Residency для основателей, налог на прибыль платится при выплате дивидендов.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52867" y="3613100"/>
            <a:ext cx="295196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9BC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Данные пользователей — по GDPR ЕС.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4660850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Общее для любой юрисдикции: договоры о правах на код, лицензия на пользовательский контент, согласие на обработку данных.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94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Balb · Практическое занятие №15 · 10 /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D4A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ПРИЛОЖЕНИЕ · РЕГИСТРАЦИЯ ООО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769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1F3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Юридический адрес и документы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81125"/>
            <a:ext cx="3380284" cy="1720850"/>
          </a:xfrm>
          <a:prstGeom prst="roundRect">
            <a:avLst>
              <a:gd name="adj" fmla="val 7196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038300"/>
            <a:ext cx="295191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6D4AC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Адрес на старте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3150" y="2444700"/>
            <a:ext cx="295191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Жилое помещение одного из учредителей с письменным согласием собственника.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5809" y="1781125"/>
            <a:ext cx="3380333" cy="1720850"/>
          </a:xfrm>
          <a:prstGeom prst="roundRect">
            <a:avLst>
              <a:gd name="adj" fmla="val 7196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2984" y="2038300"/>
            <a:ext cx="29519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6D4AC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Когда вырастем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62984" y="2444700"/>
            <a:ext cx="295196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Коворкинг или офис с юридическим адресом по договору аренды.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95692" y="1781125"/>
            <a:ext cx="3380333" cy="1720850"/>
          </a:xfrm>
          <a:prstGeom prst="roundRect">
            <a:avLst>
              <a:gd name="adj" fmla="val 7196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2867" y="2038300"/>
            <a:ext cx="29519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6D4AC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Чего избегаем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52867" y="2444700"/>
            <a:ext cx="295196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Адреса массовой регистрации: налоговая может признать сведения недостоверными.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375915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Документы для регистрации: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800" y="4127450"/>
            <a:ext cx="2089646" cy="444500"/>
          </a:xfrm>
          <a:prstGeom prst="roundRect">
            <a:avLst>
              <a:gd name="adj" fmla="val 50000"/>
            </a:avLst>
          </a:prstGeom>
          <a:solidFill>
            <a:srgbClr val="ECE6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B1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Заявление Р11001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54846" y="4127450"/>
            <a:ext cx="864195" cy="444500"/>
          </a:xfrm>
          <a:prstGeom prst="roundRect">
            <a:avLst>
              <a:gd name="adj" fmla="val 50000"/>
            </a:avLst>
          </a:prstGeom>
          <a:solidFill>
            <a:srgbClr val="ECE6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B1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Устав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071441" y="4127450"/>
            <a:ext cx="2255292" cy="444500"/>
          </a:xfrm>
          <a:prstGeom prst="roundRect">
            <a:avLst>
              <a:gd name="adj" fmla="val 50000"/>
            </a:avLst>
          </a:prstGeom>
          <a:solidFill>
            <a:srgbClr val="ECE6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B1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Решение о создании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79133" y="4127450"/>
            <a:ext cx="3111500" cy="444500"/>
          </a:xfrm>
          <a:prstGeom prst="roundRect">
            <a:avLst>
              <a:gd name="adj" fmla="val 50000"/>
            </a:avLst>
          </a:prstGeom>
          <a:solidFill>
            <a:srgbClr val="ECE6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B1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Гарантийное письмо на адрес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2800" y="467355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 подаче онлайн через nalog.ru госпошлина не нужна.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6F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Balb · Приложение для вопросов · 1 / 3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D4A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ПРИЛОЖЕНИЕ · РЕГИСТРАЦИЯ ООО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769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1F3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Что записываем в уставе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81125"/>
            <a:ext cx="3380284" cy="1720850"/>
          </a:xfrm>
          <a:prstGeom prst="roundRect">
            <a:avLst>
              <a:gd name="adj" fmla="val 7196"/>
            </a:avLst>
          </a:prstGeom>
          <a:solidFill>
            <a:srgbClr val="FDFCF9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038300"/>
            <a:ext cx="295191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6D4AC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Название и ОКВЭД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3150" y="2444700"/>
            <a:ext cx="295191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ООО «Балб», основной ОКВЭД 62.01: разработка программного обеспечения.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5809" y="1781125"/>
            <a:ext cx="3380333" cy="1720850"/>
          </a:xfrm>
          <a:prstGeom prst="roundRect">
            <a:avLst>
              <a:gd name="adj" fmla="val 7196"/>
            </a:avLst>
          </a:prstGeom>
          <a:solidFill>
            <a:srgbClr val="FDFCF9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2984" y="2038300"/>
            <a:ext cx="29519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6D4AC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Уставный капитал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62984" y="2444700"/>
            <a:ext cx="295196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10 000 ₽, доли оплачиваются в течение 4 месяцев после регистрации.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95692" y="1781125"/>
            <a:ext cx="3380333" cy="1720850"/>
          </a:xfrm>
          <a:prstGeom prst="roundRect">
            <a:avLst>
              <a:gd name="adj" fmla="val 7196"/>
            </a:avLst>
          </a:prstGeom>
          <a:solidFill>
            <a:srgbClr val="FDFCF9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2867" y="2038300"/>
            <a:ext cx="29519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6D4AC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Органы управления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52867" y="2444700"/>
            <a:ext cx="295196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Общее собрание участников и генеральный директор.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5975" y="3711525"/>
            <a:ext cx="3380284" cy="1987550"/>
          </a:xfrm>
          <a:prstGeom prst="roundRect">
            <a:avLst>
              <a:gd name="adj" fmla="val 6230"/>
            </a:avLst>
          </a:prstGeom>
          <a:solidFill>
            <a:srgbClr val="FDFCF9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3150" y="3968700"/>
            <a:ext cx="295191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6D4AC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Решения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73150" y="4375100"/>
            <a:ext cx="295191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Обычные — большинством, изменение устава и вход инвестора — 2/3 голосов.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405809" y="3711525"/>
            <a:ext cx="3380333" cy="1987550"/>
          </a:xfrm>
          <a:prstGeom prst="roundRect">
            <a:avLst>
              <a:gd name="adj" fmla="val 6230"/>
            </a:avLst>
          </a:prstGeom>
          <a:solidFill>
            <a:srgbClr val="FDFCF9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2984" y="3968700"/>
            <a:ext cx="29519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6D4AC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Переход долей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62984" y="4375100"/>
            <a:ext cx="2951963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Преимущественное право участников и согласие общества на продажу третьим лицам.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995692" y="3711525"/>
            <a:ext cx="3380333" cy="1987550"/>
          </a:xfrm>
          <a:prstGeom prst="roundRect">
            <a:avLst>
              <a:gd name="adj" fmla="val 6230"/>
            </a:avLst>
          </a:prstGeom>
          <a:solidFill>
            <a:srgbClr val="FDFCF9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52867" y="3968700"/>
            <a:ext cx="29519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6D4AC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Выход и прибыль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52867" y="4375100"/>
            <a:ext cx="2951963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Выход с выплатой действительной стоимости доли; прибыль делится по долям.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6F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Balb · Приложение для вопросов · 2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D4A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ПРИЛОЖЕНИЕ · МОНЕТИЗАЦИЯ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769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1F3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Приём платежей: подписки через lava.top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81125"/>
            <a:ext cx="3380284" cy="1987550"/>
          </a:xfrm>
          <a:prstGeom prst="roundRect">
            <a:avLst>
              <a:gd name="adj" fmla="val 6230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038300"/>
            <a:ext cx="295191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6D4AC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Что даёт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3150" y="2444700"/>
            <a:ext cx="295191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Visa, Mastercard, PayPal и Apple Pay; цены в ₽, $, €; подписки с автосписанием; комиссия 8%.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5809" y="1781125"/>
            <a:ext cx="3380333" cy="1987550"/>
          </a:xfrm>
          <a:prstGeom prst="roundRect">
            <a:avLst>
              <a:gd name="adj" fmla="val 6230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2984" y="2038300"/>
            <a:ext cx="29519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6D4AC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Что учесть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62984" y="2444700"/>
            <a:ext cx="2951963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Первая выплата после трёх продаж и проверки до 7 дней; чеков по 54-ФЗ нет; в отзывах бывают заморозки.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95692" y="1781125"/>
            <a:ext cx="3380333" cy="1987550"/>
          </a:xfrm>
          <a:prstGeom prst="roundRect">
            <a:avLst>
              <a:gd name="adj" fmla="val 6230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2867" y="2038300"/>
            <a:ext cx="29519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6D4AC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Как встроить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52867" y="2444700"/>
            <a:ext cx="2951963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F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Продаём подписку на вебе, доступ выдаём по вебхукам об оплате и отмене. В iOS действуют правила App Store.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4025850"/>
            <a:ext cx="10566400" cy="939800"/>
          </a:xfrm>
          <a:prstGeom prst="roundRect">
            <a:avLst>
              <a:gd name="adj" fmla="val 13514"/>
            </a:avLst>
          </a:prstGeom>
          <a:solidFill>
            <a:srgbClr val="ECE6F8"/>
          </a:solidFill>
          <a:ln/>
        </p:spPr>
        <p:txBody>
          <a:bodyPr wrap="square" lIns="216803" tIns="166003" rIns="0" bIns="140603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B1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Вывод:</a:t>
            </a:r>
            <a:r>
              <a:rPr lang="en-US" sz="1500" dirty="0">
                <a:solidFill>
                  <a:srgbClr val="2B1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продавать можно как физлицо, без ИП и ООО; налоги платятся по правилам страны резидентства. При росте нужны собственное юрлицо и эквайринг.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6F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Balb · Условия по открытым обзорам, проверить в кабинете lava.top · 3 / 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lb — юридическая модель стартапа">
  <a:themeElements>
    <a:clrScheme name="Balb — юридическая модель стартапа">
      <a:dk1>
        <a:srgbClr val="1B1F3B"/>
      </a:dk1>
      <a:lt1>
        <a:srgbClr val="F7F5F0"/>
      </a:lt1>
      <a:dk2>
        <a:srgbClr val="525568"/>
      </a:dk2>
      <a:lt2>
        <a:srgbClr val="E1E0DE"/>
      </a:lt2>
      <a:accent1>
        <a:srgbClr val="6D4AC2"/>
      </a:accent1>
      <a:accent2>
        <a:srgbClr val="2B1B5E"/>
      </a:accent2>
      <a:accent3>
        <a:srgbClr val="C9B8F0"/>
      </a:accent3>
      <a:accent4>
        <a:srgbClr val="4A4F66"/>
      </a:accent4>
      <a:accent5>
        <a:srgbClr val="6A6F86"/>
      </a:accent5>
      <a:accent6>
        <a:srgbClr val="B9BCD4"/>
      </a:accent6>
      <a:hlink>
        <a:srgbClr val="0563C1"/>
      </a:hlink>
      <a:folHlink>
        <a:srgbClr val="954F72"/>
      </a:folHlink>
    </a:clrScheme>
    <a:fontScheme name="Balb — юридическая модель стартапа">
      <a:majorFont>
        <a:latin typeface="Source Serif 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Balb — юридическая модель стартапа</dc:title>
  <dc:subject/>
  <dc:creator/>
  <cp:lastModifiedBy/>
  <cp:revision>1</cp:revision>
  <dcterms:created xsi:type="dcterms:W3CDTF">2026-10-26T21:54:32Z</dcterms:created>
  <dcterms:modified xsi:type="dcterms:W3CDTF">2026-10-26T21:54:32Z</dcterms:modified>
</cp:coreProperties>
</file>