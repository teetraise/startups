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4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Интерес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8E7-4749-9909-FDBDCA2E8F27}"/>
              </c:ext>
            </c:extLst>
          </c:dPt>
          <c:dPt>
            <c:idx val="1"/>
            <c:bubble3D val="0"/>
            <c:spPr>
              <a:solidFill>
                <a:srgbClr val="D946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E7-4749-9909-FDBDCA2E8F27}"/>
              </c:ext>
            </c:extLst>
          </c:dPt>
          <c:dPt>
            <c:idx val="2"/>
            <c:bubble3D val="0"/>
            <c:spPr>
              <a:solidFill>
                <a:srgbClr val="C9B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8E7-4749-9909-FDBDCA2E8F27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8E7-4749-9909-FDBDCA2E8F27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8E7-4749-9909-FDBDCA2E8F27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8E7-4749-9909-FDBDCA2E8F27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Да</c:v>
                </c:pt>
                <c:pt idx="1">
                  <c:v>Возможно</c:v>
                </c:pt>
                <c:pt idx="2">
                  <c:v>Нет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63.3</c:v>
                </c:pt>
                <c:pt idx="1">
                  <c:v>33.299999999999997</c:v>
                </c:pt>
                <c:pt idx="2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8E7-4749-9909-FDBDCA2E8F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F12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2551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34126B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840480" cy="3840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BALB : ICEBREAKER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UGC-платформа для живого общения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8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Питч-дек для инвестора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4572000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34126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45720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78685" y="4572000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34126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78685" y="45720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0205" y="4572000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34126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10205" y="457200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Growth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56125" y="457200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34126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56125" y="457200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5989320"/>
            <a:ext cx="9195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b="1" dirty="0">
                <a:solidFill>
                  <a:srgbClr val="D946EF"/>
                </a:solidFill>
                <a:latin typeface="Cambria" pitchFamily="34" charset="0"/>
                <a:ea typeface="Cambria" pitchFamily="34" charset="-122"/>
              </a:rPr>
              <a:t>Выполнили: Климентьев В.С., Лобачев Г.А., Гульницкий В.И., Жирнов Н.В., Ткаченко А.В. </a:t>
            </a:r>
            <a:endParaRPr lang="en-US" sz="15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20CEDE04-CFCB-401F-7E20-ECF5B5306E65}"/>
              </a:ext>
            </a:extLst>
          </p:cNvPr>
          <p:cNvSpPr/>
          <p:nvPr/>
        </p:nvSpPr>
        <p:spPr>
          <a:xfrm>
            <a:off x="1389965" y="457200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34126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4EBE9CDB-3F80-64F9-6BF2-BA00E68D5572}"/>
              </a:ext>
            </a:extLst>
          </p:cNvPr>
          <p:cNvSpPr txBox="1"/>
          <p:nvPr/>
        </p:nvSpPr>
        <p:spPr>
          <a:xfrm>
            <a:off x="1389965" y="457200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Люди никогда не были так связаны — и так одиноки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246120" cy="2788920"/>
          </a:xfrm>
          <a:prstGeom prst="roundRect">
            <a:avLst>
              <a:gd name="adj" fmla="val 3279"/>
            </a:avLst>
          </a:prstGeom>
          <a:solidFill>
            <a:srgbClr val="F6F2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Хаос на тусовке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Непонятно с кем говорить, кто-то зажимается и выпадает из общения. Нет структуры — одни говорят за всех, другие молчат весь вечер.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69080" y="2148840"/>
            <a:ext cx="3246120" cy="2788920"/>
          </a:xfrm>
          <a:prstGeom prst="roundRect">
            <a:avLst>
              <a:gd name="adj" fmla="val 3279"/>
            </a:avLst>
          </a:prstGeom>
          <a:solidFill>
            <a:srgbClr val="F6F2FC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242316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34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108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Тишина в общении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36118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Разговор не складывается, не знаешь какую тему обсудить. Или малознаком с человеком, но хочешь раскрыть его интерактивно.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89520" y="2148840"/>
            <a:ext cx="3246120" cy="2788920"/>
          </a:xfrm>
          <a:prstGeom prst="roundRect">
            <a:avLst>
              <a:gd name="adj" fmla="val 3279"/>
            </a:avLst>
          </a:prstGeom>
          <a:solidFill>
            <a:srgbClr val="F6F2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0" y="242316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108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Одиночкам некуда идти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6118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BuzzFeed — поверхностны. Психологические опросники — занудны. Нет золотой середины между развлечением и смыслом.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4C1D9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257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4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представителей Gen Z признались, что чувствовали себя одинокими в последние 12 месяцев. Сигнал: категории «Игры» и «Развлечения» — в топ-5 самых популярных в App Store глобально.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Игровые режимы, которые создают настоящий контакт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не в том, что люди не хотят общаться, а в том, что у них нет структуры для этого. Правильный триггер — игра, момент, структура — создаёт настоящий контакт вместо алкоголя и никотина как костыля.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6F2FC"/>
          </a:solidFill>
          <a:ln/>
        </p:spPr>
      </p:sp>
      <p:sp>
        <p:nvSpPr>
          <p:cNvPr id="6" name="Shape 4"/>
          <p:cNvSpPr/>
          <p:nvPr/>
        </p:nvSpPr>
        <p:spPr>
          <a:xfrm>
            <a:off x="1335024" y="2880360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35024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661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or Dare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206240"/>
            <a:ext cx="18105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кладут пальцы на экран — система выбирает одного. Вопрос или задание.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26060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6F2FC"/>
          </a:solidFill>
          <a:ln/>
        </p:spPr>
      </p:sp>
      <p:sp>
        <p:nvSpPr>
          <p:cNvPr id="11" name="Shape 9"/>
          <p:cNvSpPr/>
          <p:nvPr/>
        </p:nvSpPr>
        <p:spPr>
          <a:xfrm>
            <a:off x="3566160" y="2880360"/>
            <a:ext cx="512064" cy="512064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66160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16936" y="35661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Confess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916936" y="4206240"/>
            <a:ext cx="18105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анонимно отвечает на тему. Угадываешь, кто что написал. Reveal — для всех одновременно.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10912" y="26060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6F2FC"/>
          </a:solidFill>
          <a:ln/>
        </p:spPr>
      </p:sp>
      <p:sp>
        <p:nvSpPr>
          <p:cNvPr id="16" name="Shape 14"/>
          <p:cNvSpPr/>
          <p:nvPr/>
        </p:nvSpPr>
        <p:spPr>
          <a:xfrm>
            <a:off x="5797296" y="2880360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797296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35661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Квизы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148072" y="4206240"/>
            <a:ext cx="18105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Соревнование в реальном времени или в одиночку.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42048" y="26060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6F2FC"/>
          </a:solidFill>
          <a:ln/>
        </p:spPr>
      </p:sp>
      <p:sp>
        <p:nvSpPr>
          <p:cNvPr id="21" name="Shape 19"/>
          <p:cNvSpPr/>
          <p:nvPr/>
        </p:nvSpPr>
        <p:spPr>
          <a:xfrm>
            <a:off x="8028432" y="2880360"/>
            <a:ext cx="512064" cy="512064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28432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79208" y="35661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Тесты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379208" y="4206240"/>
            <a:ext cx="18105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ты, как ты мыслишь, что о себе не знаешь.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473184" y="260604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6F2FC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59568" y="2880360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259568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10344" y="356616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Friendship Book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9610344" y="4206240"/>
            <a:ext cx="18105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Анкеты с вопросами, которые стоит задать другу.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СЕГМЕНТ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Персона: Алекс, 21 год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206240" cy="4663440"/>
          </a:xfrm>
          <a:prstGeom prst="roundRect">
            <a:avLst>
              <a:gd name="adj" fmla="val 2609"/>
            </a:avLst>
          </a:prstGeom>
          <a:solidFill>
            <a:srgbClr val="4C1D9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822960" cy="822960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671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Алекс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Студент, организатор тусовок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08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Крупный город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136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879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Собрались компанией, нужно чем заняться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7183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ТЕКУЩЕЕ РЕШЕНИЕ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9926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Карточки, рандомная кнопка в телефоне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522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7972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Споры, кто-то зажимается, скучно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1783080"/>
            <a:ext cx="653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TO BE DONE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74920" y="2240280"/>
            <a:ext cx="6537960" cy="1234440"/>
          </a:xfrm>
          <a:prstGeom prst="roundRect">
            <a:avLst>
              <a:gd name="adj" fmla="val 7407"/>
            </a:avLst>
          </a:prstGeom>
          <a:solidFill>
            <a:srgbClr val="F6F2FC"/>
          </a:solidFill>
          <a:ln/>
        </p:spPr>
      </p:sp>
      <p:sp>
        <p:nvSpPr>
          <p:cNvPr id="19" name="Shape 17"/>
          <p:cNvSpPr/>
          <p:nvPr/>
        </p:nvSpPr>
        <p:spPr>
          <a:xfrm>
            <a:off x="5303520" y="24688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035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237744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мы собрались компанией и не знаем чем заняться → я хочу быстро запустить игру → чтобы не тратить время на организацию.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74920" y="3657600"/>
            <a:ext cx="6537960" cy="1234440"/>
          </a:xfrm>
          <a:prstGeom prst="roundRect">
            <a:avLst>
              <a:gd name="adj" fmla="val 7407"/>
            </a:avLst>
          </a:prstGeom>
          <a:solidFill>
            <a:srgbClr val="F6F2FC"/>
          </a:solidFill>
          <a:ln/>
        </p:spPr>
      </p:sp>
      <p:sp>
        <p:nvSpPr>
          <p:cNvPr id="23" name="Shape 21"/>
          <p:cNvSpPr/>
          <p:nvPr/>
        </p:nvSpPr>
        <p:spPr>
          <a:xfrm>
            <a:off x="5303520" y="388620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303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379476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я один и хочу чем-то осмысленным заняться → я хочу пройти умный тест → чтобы узнать что-то о себе и порефлексировать.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74920" y="5074920"/>
            <a:ext cx="6537960" cy="1234440"/>
          </a:xfrm>
          <a:prstGeom prst="roundRect">
            <a:avLst>
              <a:gd name="adj" fmla="val 7407"/>
            </a:avLst>
          </a:prstGeom>
          <a:solidFill>
            <a:srgbClr val="F6F2FC"/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0" y="53035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30352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521208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организую вечеринку → я хочу создать свою подборку вопросов → чтобы игра была персональной для нашей компании.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Пустота рынка: никто не объединяет всё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530352"/>
          </a:xfrm>
          <a:prstGeom prst="rect">
            <a:avLst/>
          </a:prstGeom>
          <a:solidFill>
            <a:srgbClr val="4C1D95"/>
          </a:solidFill>
          <a:ln w="12700">
            <a:solidFill>
              <a:srgbClr val="E5DC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2834640" cy="530352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01168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Мультитач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201168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201168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Одиночный режим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89720" y="201168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Монетизация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C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542032"/>
            <a:ext cx="2834640" cy="530352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Chooser!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54203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54203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54203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54203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72384"/>
            <a:ext cx="11064240" cy="530352"/>
          </a:xfrm>
          <a:prstGeom prst="rect">
            <a:avLst/>
          </a:prstGeom>
          <a:solidFill>
            <a:srgbClr val="F6F2FC"/>
          </a:solidFill>
          <a:ln w="6350">
            <a:solidFill>
              <a:srgbClr val="E5DC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072384"/>
            <a:ext cx="2834640" cy="530352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Up!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072384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07238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07238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307238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+ паки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602736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C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602736"/>
            <a:ext cx="2834640" cy="530352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the Bottle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3602736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360273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360273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189720" y="360273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133088"/>
            <a:ext cx="11064240" cy="530352"/>
          </a:xfrm>
          <a:prstGeom prst="rect">
            <a:avLst/>
          </a:prstGeom>
          <a:solidFill>
            <a:srgbClr val="F6F2FC"/>
          </a:solidFill>
          <a:ln w="6350">
            <a:solidFill>
              <a:srgbClr val="E5DC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133088"/>
            <a:ext cx="2834640" cy="530352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Kahoot!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413308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413308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413308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189720" y="413308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B2B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663440"/>
            <a:ext cx="11064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DCF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4663440"/>
            <a:ext cx="2834640" cy="530352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BuzzFeed тесты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383280" y="4663440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257800" y="466344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0" y="466344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189720" y="466344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193792"/>
            <a:ext cx="1106424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E5DCF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5193792"/>
            <a:ext cx="2834640" cy="530352"/>
          </a:xfrm>
          <a:prstGeom prst="rect">
            <a:avLst/>
          </a:prstGeom>
          <a:noFill/>
          <a:ln/>
        </p:spPr>
        <p:txBody>
          <a:bodyPr wrap="square" lIns="0" tIns="254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Balb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3383280" y="5193792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257800" y="519379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0" y="51937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189720" y="519379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+ Реклама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8640" y="6044184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6F2F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22960" y="604418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конкурент не объединяет мультитач + UGC + одиночный режим в одном продукте.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/ SAM / SOM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Глобальный рынок мобильных игр — $126 млрд в 2025 году (Statista Market Insights 2025). Целевые рынки: FR, SE, KZ, US, 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6F2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~115M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021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Молодёжь 16–30 по 5 странам (FR, SE, KZ, US, DE)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22402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6F2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2423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~25M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5021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в целевой группе — активные пользователи смартфонов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224028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4C1D9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423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~500K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5021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D9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Реалистичная доля через TikTok, горизонт 1–2 года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8046720" cy="338328"/>
          </a:xfrm>
          <a:prstGeom prst="rect">
            <a:avLst/>
          </a:prstGeom>
          <a:solidFill>
            <a:srgbClr val="4C1D95"/>
          </a:solidFill>
          <a:ln w="12700">
            <a:solidFill>
              <a:srgbClr val="E5DC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97680"/>
            <a:ext cx="2743200" cy="3383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Страна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4297680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Молодёжь 16–30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4297680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(SAM)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36008"/>
            <a:ext cx="8046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DC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36008"/>
            <a:ext cx="2743200" cy="3383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Франция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4636008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12 231 000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4636008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2 956 667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974336"/>
            <a:ext cx="8046720" cy="338328"/>
          </a:xfrm>
          <a:prstGeom prst="rect">
            <a:avLst/>
          </a:prstGeom>
          <a:solidFill>
            <a:srgbClr val="F6F2FC"/>
          </a:solidFill>
          <a:ln w="6350">
            <a:solidFill>
              <a:srgbClr val="E5DC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974336"/>
            <a:ext cx="2743200" cy="3383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🇸🇪 Швеция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291840" y="4974336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1 847 859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0" y="4974336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248 138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312664"/>
            <a:ext cx="8046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DC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312664"/>
            <a:ext cx="2743200" cy="3383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🇰🇿 Казахстан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291840" y="5312664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3 747 090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0" y="5312664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588 276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650992"/>
            <a:ext cx="8046720" cy="338328"/>
          </a:xfrm>
          <a:prstGeom prst="rect">
            <a:avLst/>
          </a:prstGeom>
          <a:solidFill>
            <a:srgbClr val="F6F2FC"/>
          </a:solidFill>
          <a:ln w="6350">
            <a:solidFill>
              <a:srgbClr val="E5DCF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5650992"/>
            <a:ext cx="2743200" cy="3383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США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291840" y="5650992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69 074 124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0" y="5650992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18 400 000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989320"/>
            <a:ext cx="80467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DCF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5989320"/>
            <a:ext cx="2743200" cy="3383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Германия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291840" y="5989320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10 965 320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0" y="5989320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2 864 122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686800" y="64190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Метод: bottom-up (кол-во студентов × ARPU $1.2/год). Допущение: 2% конверсия в платящих.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+ паки контента + Pro-подписка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6F2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доступ. Весь групповой и одиночный режим бесплатно — низкий барьер входа, рост через TikTok-вирусность.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874520"/>
            <a:ext cx="914400" cy="320040"/>
          </a:xfrm>
          <a:prstGeom prst="roundRect">
            <a:avLst>
              <a:gd name="adj" fmla="val 48571"/>
            </a:avLst>
          </a:prstGeom>
          <a:solidFill>
            <a:srgbClr val="D946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54880" y="1874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6F2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8745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— $2/мес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2402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рекламы, полный доступ ко всему контенту.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6F2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Паки — $1.99–$2.99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5204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Тематический контент: 18+, корпоратив, праздники.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3017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6F2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3154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Реклама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5204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Нативная реклама подключается при достижении MAU 100K+. Международный рынок — CPM в 5–10× выше российского.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469880" y="3154680"/>
            <a:ext cx="914400" cy="320040"/>
          </a:xfrm>
          <a:prstGeom prst="roundRect">
            <a:avLst>
              <a:gd name="adj" fmla="val 48571"/>
            </a:avLst>
          </a:prstGeom>
          <a:solidFill>
            <a:srgbClr val="D946E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469880" y="3154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100K+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РОСТА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4800600"/>
            <a:ext cx="1746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Одиночка проходит тест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514600" y="480060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15768" y="480060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25496" y="4800600"/>
            <a:ext cx="1746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Делится результатом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681728" y="480060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82896" y="480060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92624" y="4800600"/>
            <a:ext cx="1746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Компания скачивает Balb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48856" y="480060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50024" y="480060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59752" y="4800600"/>
            <a:ext cx="1746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Играют вместе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015984" y="480060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217152" y="4800600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4C1D9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26880" y="4800600"/>
            <a:ext cx="1746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Снимают TikTok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Собственное исследование пользователей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респондентов, целевая аудитория 16–30 лет, апрель 2026.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4C1D9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3774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4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06324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заинтересованы в продукте — ни одного жёсткого «нет»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21488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6F2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23774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8.7/10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06324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оценка дизайна по всем экранам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2784" y="21488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4C1D9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73952" y="23774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94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306324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платят за цифровые подписки — низкий барьер к монетизации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34856" y="21488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6F2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36024" y="23774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336024" y="3063240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регулярно сталкиваются с неловкой тишиной в компании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Появился ли у тебя интерес к приложению?</a:t>
            </a:r>
            <a:endParaRPr lang="en-US" sz="12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548640" y="4800600"/>
          <a:ext cx="402336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4892040" y="4800600"/>
            <a:ext cx="6720840" cy="1874520"/>
          </a:xfrm>
          <a:prstGeom prst="roundRect">
            <a:avLst>
              <a:gd name="adj" fmla="val 4878"/>
            </a:avLst>
          </a:prstGeom>
          <a:solidFill>
            <a:srgbClr val="F6F2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166360" y="4800600"/>
            <a:ext cx="6217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63.3% </a:t>
            </a:r>
            <a:r>
              <a:rPr lang="en-US" sz="12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ответили «Да», ещё 33.3% — «возможно, но пока не особо понимаю». </a:t>
            </a:r>
            <a:r>
              <a:rPr lang="en-US" sz="120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Жёсткого «нет» практически нет — сигнал к продолжению разработки.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делает Balb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[Заполните: имена, роли и опыт каждого участника команды — инвестор оценивает прежде всего мотивацию и способность довести проект до результата]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6F2FC"/>
          </a:solidFill>
          <a:ln/>
        </p:spPr>
      </p:sp>
      <p:sp>
        <p:nvSpPr>
          <p:cNvPr id="6" name="Shape 4"/>
          <p:cNvSpPr/>
          <p:nvPr/>
        </p:nvSpPr>
        <p:spPr>
          <a:xfrm>
            <a:off x="1805940" y="265176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Имя Фамилия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06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(напр. Product / CEO)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17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опыт и зона ответственности в проекте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23317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6F2FC"/>
          </a:solidFill>
          <a:ln/>
        </p:spPr>
      </p:sp>
      <p:sp>
        <p:nvSpPr>
          <p:cNvPr id="11" name="Shape 9"/>
          <p:cNvSpPr/>
          <p:nvPr/>
        </p:nvSpPr>
        <p:spPr>
          <a:xfrm>
            <a:off x="5600700" y="2651760"/>
            <a:ext cx="1005840" cy="1005840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Имя Фамилия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4206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(напр. Design / CPO)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4617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опыт и зона ответственности в проекте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233172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6F2FC"/>
          </a:solidFill>
          <a:ln/>
        </p:spPr>
      </p:sp>
      <p:sp>
        <p:nvSpPr>
          <p:cNvPr id="16" name="Shape 14"/>
          <p:cNvSpPr/>
          <p:nvPr/>
        </p:nvSpPr>
        <p:spPr>
          <a:xfrm>
            <a:off x="9395460" y="265176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Имя Фамилия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2062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(напр. Tech / CTO)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4617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F1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опыт и зона ответственности в проекте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3412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ФИНАНСОВАЯ ЦЕЛЬ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Нам нужно одно — запуститься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34126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4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$100/мес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Инфраструктура: серверы и размещение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34126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9659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4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$1 000–$2 000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6060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Первичная реклама: один точечный буст для старта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290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D9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уже идёт — мы не просим денег на команду. Основное продвижение — органика через TikTok: механика Balb создаёт контент сама по себе. Ожидаем 5 000 MAU за первые 3 месяца.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0"/>
          </a:xfrm>
          <a:prstGeom prst="line">
            <a:avLst/>
          </a:prstGeom>
          <a:noFill/>
          <a:ln w="12700">
            <a:solidFill>
              <a:srgbClr val="6D3FB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83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[Имя] · [email] · [телефон] · [ссылка на демо / TikTok / сайт]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Balb : Icebreaker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999</Words>
  <Application>Microsoft Office PowerPoint</Application>
  <PresentationFormat>Широкоэкранный</PresentationFormat>
  <Paragraphs>207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Вадим Гульницкий</cp:lastModifiedBy>
  <cp:revision>2</cp:revision>
  <dcterms:created xsi:type="dcterms:W3CDTF">2026-09-22T10:52:49Z</dcterms:created>
  <dcterms:modified xsi:type="dcterms:W3CDTF">2026-09-28T17:37:31Z</dcterms:modified>
</cp:coreProperties>
</file>